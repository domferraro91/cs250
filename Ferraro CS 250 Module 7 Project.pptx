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025" autoAdjust="0"/>
  </p:normalViewPr>
  <p:slideViewPr>
    <p:cSldViewPr snapToGrid="0">
      <p:cViewPr varScale="1">
        <p:scale>
          <a:sx n="63" d="100"/>
          <a:sy n="63" d="100"/>
        </p:scale>
        <p:origin x="72" y="7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9E877-EE93-4568-8634-CB0F81DA868E}"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D2646B-5DB2-4C40-8757-C861168569AC}" type="slidenum">
              <a:rPr lang="en-US" smtClean="0"/>
              <a:t>‹#›</a:t>
            </a:fld>
            <a:endParaRPr lang="en-US"/>
          </a:p>
        </p:txBody>
      </p:sp>
    </p:spTree>
    <p:extLst>
      <p:ext uri="{BB962C8B-B14F-4D97-AF65-F5344CB8AC3E}">
        <p14:creationId xmlns:p14="http://schemas.microsoft.com/office/powerpoint/2010/main" val="131991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Scrum framework relies on clearly defined roles. During this project, I experienced several of these roles firsthand. As Product Owner, I focused on gathering stakeholder feedback and creating user stories. As Scrum Master, I facilitated Scrum activities and helped maintain team focus. As Developer, I implemented features and adapted to changing requirements. As Tester, I created test cases and verified that functionality met acceptance criteria. Together, these roles ensured the project remained aligned with customer needs while maintaining quality and productivity.</a:t>
            </a:r>
          </a:p>
        </p:txBody>
      </p:sp>
      <p:sp>
        <p:nvSpPr>
          <p:cNvPr id="4" name="Slide Number Placeholder 3"/>
          <p:cNvSpPr>
            <a:spLocks noGrp="1"/>
          </p:cNvSpPr>
          <p:nvPr>
            <p:ph type="sldNum" sz="quarter" idx="5"/>
          </p:nvPr>
        </p:nvSpPr>
        <p:spPr/>
        <p:txBody>
          <a:bodyPr/>
          <a:lstStyle/>
          <a:p>
            <a:fld id="{9AD2646B-5DB2-4C40-8757-C861168569AC}" type="slidenum">
              <a:rPr lang="en-US" smtClean="0"/>
              <a:t>2</a:t>
            </a:fld>
            <a:endParaRPr lang="en-US"/>
          </a:p>
        </p:txBody>
      </p:sp>
    </p:spTree>
    <p:extLst>
      <p:ext uri="{BB962C8B-B14F-4D97-AF65-F5344CB8AC3E}">
        <p14:creationId xmlns:p14="http://schemas.microsoft.com/office/powerpoint/2010/main" val="2290805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traditional development models, Agile repeats these phases throughout the project. Requirements are gathered through stakeholder collaboration and translated into user stories. Sprint Planning determines what work will be completed during a sprint. Development and testing occur continuously rather than as separate phases. Sprint Reviews allow stakeholders to evaluate progress, while Retrospectives help teams improve their processes. This iterative cycle supports flexibility and continuous improvement.</a:t>
            </a:r>
          </a:p>
        </p:txBody>
      </p:sp>
      <p:sp>
        <p:nvSpPr>
          <p:cNvPr id="4" name="Slide Number Placeholder 3"/>
          <p:cNvSpPr>
            <a:spLocks noGrp="1"/>
          </p:cNvSpPr>
          <p:nvPr>
            <p:ph type="sldNum" sz="quarter" idx="5"/>
          </p:nvPr>
        </p:nvSpPr>
        <p:spPr/>
        <p:txBody>
          <a:bodyPr/>
          <a:lstStyle/>
          <a:p>
            <a:fld id="{9AD2646B-5DB2-4C40-8757-C861168569AC}" type="slidenum">
              <a:rPr lang="en-US" smtClean="0"/>
              <a:t>3</a:t>
            </a:fld>
            <a:endParaRPr lang="en-US"/>
          </a:p>
        </p:txBody>
      </p:sp>
    </p:spTree>
    <p:extLst>
      <p:ext uri="{BB962C8B-B14F-4D97-AF65-F5344CB8AC3E}">
        <p14:creationId xmlns:p14="http://schemas.microsoft.com/office/powerpoint/2010/main" val="359265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Scrum events helped organize work throughout the project. Sprint Planning established goals, Daily Scrums tracked progress, Backlog Refinement prepared future work, Sprint Reviews gathered feedback, and Retrospectives supported continuous improvement. Agile tools such as JIRA, task boards, and burndown charts provided visibility into project status. These tools helped the team stay organized and communicate effectively throughout development.</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9AD2646B-5DB2-4C40-8757-C861168569AC}" type="slidenum">
              <a:rPr lang="en-US" smtClean="0"/>
              <a:t>4</a:t>
            </a:fld>
            <a:endParaRPr lang="en-US"/>
          </a:p>
        </p:txBody>
      </p:sp>
    </p:spTree>
    <p:extLst>
      <p:ext uri="{BB962C8B-B14F-4D97-AF65-F5344CB8AC3E}">
        <p14:creationId xmlns:p14="http://schemas.microsoft.com/office/powerpoint/2010/main" val="577051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was one of the most important factors in project success. As a Tester, I communicated with the Product Owner to clarify business rules and testing requirements. Later, as a Developer, I requested updated priorities and requirements after the project shifted toward wellness travel. Daily Scrum meetings also helped team members share progress and identify obstacles. These communication practices promoted transparency and collaboration throughout the project.</a:t>
            </a:r>
          </a:p>
        </p:txBody>
      </p:sp>
      <p:sp>
        <p:nvSpPr>
          <p:cNvPr id="4" name="Slide Number Placeholder 3"/>
          <p:cNvSpPr>
            <a:spLocks noGrp="1"/>
          </p:cNvSpPr>
          <p:nvPr>
            <p:ph type="sldNum" sz="quarter" idx="5"/>
          </p:nvPr>
        </p:nvSpPr>
        <p:spPr/>
        <p:txBody>
          <a:bodyPr/>
          <a:lstStyle/>
          <a:p>
            <a:fld id="{9AD2646B-5DB2-4C40-8757-C861168569AC}" type="slidenum">
              <a:rPr lang="en-US" smtClean="0"/>
              <a:t>5</a:t>
            </a:fld>
            <a:endParaRPr lang="en-US"/>
          </a:p>
        </p:txBody>
      </p:sp>
    </p:spTree>
    <p:extLst>
      <p:ext uri="{BB962C8B-B14F-4D97-AF65-F5344CB8AC3E}">
        <p14:creationId xmlns:p14="http://schemas.microsoft.com/office/powerpoint/2010/main" val="3986175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major difference between Waterfall and Agile is the ability to respond to change. During the SNHU Travel project, the Product Owner shifted the focus toward detox and wellness travel. Using Agile, the team reprioritized the backlog and updated user stories without restarting development. In a Waterfall environment, this change would likely have required significant rework and schedule delays. </a:t>
            </a:r>
            <a:r>
              <a:rPr lang="en-US" dirty="0" err="1"/>
              <a:t>Agile's</a:t>
            </a:r>
            <a:r>
              <a:rPr lang="en-US" dirty="0"/>
              <a:t> flexibility made it better suited for this project.</a:t>
            </a:r>
          </a:p>
        </p:txBody>
      </p:sp>
      <p:sp>
        <p:nvSpPr>
          <p:cNvPr id="4" name="Slide Number Placeholder 3"/>
          <p:cNvSpPr>
            <a:spLocks noGrp="1"/>
          </p:cNvSpPr>
          <p:nvPr>
            <p:ph type="sldNum" sz="quarter" idx="5"/>
          </p:nvPr>
        </p:nvSpPr>
        <p:spPr/>
        <p:txBody>
          <a:bodyPr/>
          <a:lstStyle/>
          <a:p>
            <a:fld id="{9AD2646B-5DB2-4C40-8757-C861168569AC}" type="slidenum">
              <a:rPr lang="en-US" smtClean="0"/>
              <a:t>6</a:t>
            </a:fld>
            <a:endParaRPr lang="en-US"/>
          </a:p>
        </p:txBody>
      </p:sp>
    </p:spTree>
    <p:extLst>
      <p:ext uri="{BB962C8B-B14F-4D97-AF65-F5344CB8AC3E}">
        <p14:creationId xmlns:p14="http://schemas.microsoft.com/office/powerpoint/2010/main" val="2262423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should select a development methodology based on project characteristics. Agile works best when requirements are likely to change and customer feedback is important. Waterfall is more effective when requirements are stable and highly documented. Based on my experience with the SNHU Travel project, Agile was the better choice because customer needs evolved throughout development and the project required flexibility.</a:t>
            </a:r>
          </a:p>
        </p:txBody>
      </p:sp>
      <p:sp>
        <p:nvSpPr>
          <p:cNvPr id="4" name="Slide Number Placeholder 3"/>
          <p:cNvSpPr>
            <a:spLocks noGrp="1"/>
          </p:cNvSpPr>
          <p:nvPr>
            <p:ph type="sldNum" sz="quarter" idx="5"/>
          </p:nvPr>
        </p:nvSpPr>
        <p:spPr/>
        <p:txBody>
          <a:bodyPr/>
          <a:lstStyle/>
          <a:p>
            <a:fld id="{9AD2646B-5DB2-4C40-8757-C861168569AC}" type="slidenum">
              <a:rPr lang="en-US" smtClean="0"/>
              <a:t>7</a:t>
            </a:fld>
            <a:endParaRPr lang="en-US"/>
          </a:p>
        </p:txBody>
      </p:sp>
    </p:spTree>
    <p:extLst>
      <p:ext uri="{BB962C8B-B14F-4D97-AF65-F5344CB8AC3E}">
        <p14:creationId xmlns:p14="http://schemas.microsoft.com/office/powerpoint/2010/main" val="13391241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387419732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3811420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2784910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919E14-74FB-4BE9-951B-13C4A415471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1027299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919E14-74FB-4BE9-951B-13C4A415471B}"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1487546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919E14-74FB-4BE9-951B-13C4A415471B}"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3110393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6919E14-74FB-4BE9-951B-13C4A415471B}"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1776576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919E14-74FB-4BE9-951B-13C4A415471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2321832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919E14-74FB-4BE9-951B-13C4A415471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2769895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919E14-74FB-4BE9-951B-13C4A415471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1445983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3907691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3598426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247571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3538018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2382784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613279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19E14-74FB-4BE9-951B-13C4A415471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865F3-5D5C-45FF-9ADF-4EFEA5C4D181}" type="slidenum">
              <a:rPr lang="en-US" smtClean="0"/>
              <a:t>‹#›</a:t>
            </a:fld>
            <a:endParaRPr lang="en-US"/>
          </a:p>
        </p:txBody>
      </p:sp>
    </p:spTree>
    <p:extLst>
      <p:ext uri="{BB962C8B-B14F-4D97-AF65-F5344CB8AC3E}">
        <p14:creationId xmlns:p14="http://schemas.microsoft.com/office/powerpoint/2010/main" val="43856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6919E14-74FB-4BE9-951B-13C4A415471B}" type="datetimeFigureOut">
              <a:rPr lang="en-US" smtClean="0"/>
              <a:t>6/21/2026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80865F3-5D5C-45FF-9ADF-4EFEA5C4D181}" type="slidenum">
              <a:rPr lang="en-US" smtClean="0"/>
              <a:t>‹#›</a:t>
            </a:fld>
            <a:endParaRPr lang="en-US"/>
          </a:p>
        </p:txBody>
      </p:sp>
    </p:spTree>
    <p:extLst>
      <p:ext uri="{BB962C8B-B14F-4D97-AF65-F5344CB8AC3E}">
        <p14:creationId xmlns:p14="http://schemas.microsoft.com/office/powerpoint/2010/main" val="5187767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atlassian.com/agile" TargetMode="External"/><Relationship Id="rId2" Type="http://schemas.openxmlformats.org/officeDocument/2006/relationships/hyperlink" Target="https://agilealliance.org/agile101/12-principles-behind-the-agile-manifesto/" TargetMode="External"/><Relationship Id="rId1" Type="http://schemas.openxmlformats.org/officeDocument/2006/relationships/slideLayout" Target="../slideLayouts/slideLayout2.xml"/><Relationship Id="rId6" Type="http://schemas.openxmlformats.org/officeDocument/2006/relationships/hyperlink" Target="https://agilemanifesto.org/" TargetMode="External"/><Relationship Id="rId5" Type="http://schemas.openxmlformats.org/officeDocument/2006/relationships/hyperlink" Target="https://scrumguides.org/" TargetMode="External"/><Relationship Id="rId4" Type="http://schemas.openxmlformats.org/officeDocument/2006/relationships/hyperlink" Target="https://www.pmi.org/disciplined-agi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B27F-2195-6733-4B5D-AD94B8585611}"/>
              </a:ext>
            </a:extLst>
          </p:cNvPr>
          <p:cNvSpPr>
            <a:spLocks noGrp="1"/>
          </p:cNvSpPr>
          <p:nvPr>
            <p:ph type="ctrTitle"/>
          </p:nvPr>
        </p:nvSpPr>
        <p:spPr/>
        <p:txBody>
          <a:bodyPr>
            <a:normAutofit fontScale="90000"/>
          </a:bodyPr>
          <a:lstStyle/>
          <a:p>
            <a:r>
              <a:rPr lang="en-US" dirty="0"/>
              <a:t>Scrum-Agile Development at </a:t>
            </a:r>
            <a:r>
              <a:rPr lang="en-US" dirty="0" err="1"/>
              <a:t>ChadaTech</a:t>
            </a:r>
            <a:br>
              <a:rPr lang="en-US" dirty="0"/>
            </a:br>
            <a:r>
              <a:rPr lang="en-US" dirty="0"/>
              <a:t>Lessons Learned from the SNHU Travel Project</a:t>
            </a:r>
          </a:p>
        </p:txBody>
      </p:sp>
      <p:sp>
        <p:nvSpPr>
          <p:cNvPr id="3" name="Subtitle 2">
            <a:extLst>
              <a:ext uri="{FF2B5EF4-FFF2-40B4-BE49-F238E27FC236}">
                <a16:creationId xmlns:a16="http://schemas.microsoft.com/office/drawing/2014/main" id="{5082DF9B-1131-4D5C-470E-F784C3D733D5}"/>
              </a:ext>
            </a:extLst>
          </p:cNvPr>
          <p:cNvSpPr>
            <a:spLocks noGrp="1"/>
          </p:cNvSpPr>
          <p:nvPr>
            <p:ph type="subTitle" idx="1"/>
          </p:nvPr>
        </p:nvSpPr>
        <p:spPr/>
        <p:txBody>
          <a:bodyPr/>
          <a:lstStyle/>
          <a:p>
            <a:r>
              <a:rPr lang="en-US" dirty="0"/>
              <a:t>Domenic Ferraro</a:t>
            </a:r>
          </a:p>
          <a:p>
            <a:r>
              <a:rPr lang="en-US" dirty="0"/>
              <a:t>CS 250 Software Development Lifecycle</a:t>
            </a:r>
          </a:p>
          <a:p>
            <a:r>
              <a:rPr lang="en-US" dirty="0"/>
              <a:t>June 2026</a:t>
            </a:r>
          </a:p>
        </p:txBody>
      </p:sp>
    </p:spTree>
    <p:extLst>
      <p:ext uri="{BB962C8B-B14F-4D97-AF65-F5344CB8AC3E}">
        <p14:creationId xmlns:p14="http://schemas.microsoft.com/office/powerpoint/2010/main" val="396816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A8747-C6DC-371B-10D2-A305CD08C65F}"/>
              </a:ext>
            </a:extLst>
          </p:cNvPr>
          <p:cNvSpPr>
            <a:spLocks noGrp="1"/>
          </p:cNvSpPr>
          <p:nvPr>
            <p:ph type="title"/>
          </p:nvPr>
        </p:nvSpPr>
        <p:spPr/>
        <p:txBody>
          <a:bodyPr/>
          <a:lstStyle/>
          <a:p>
            <a:r>
              <a:rPr lang="en-US" dirty="0"/>
              <a:t>Scrum Team Roles</a:t>
            </a:r>
          </a:p>
        </p:txBody>
      </p:sp>
      <p:sp>
        <p:nvSpPr>
          <p:cNvPr id="3" name="Content Placeholder 2">
            <a:extLst>
              <a:ext uri="{FF2B5EF4-FFF2-40B4-BE49-F238E27FC236}">
                <a16:creationId xmlns:a16="http://schemas.microsoft.com/office/drawing/2014/main" id="{669CF1B4-A905-E4D1-D0CE-801971579C1B}"/>
              </a:ext>
            </a:extLst>
          </p:cNvPr>
          <p:cNvSpPr>
            <a:spLocks noGrp="1"/>
          </p:cNvSpPr>
          <p:nvPr>
            <p:ph idx="1"/>
          </p:nvPr>
        </p:nvSpPr>
        <p:spPr>
          <a:xfrm>
            <a:off x="838200" y="1825625"/>
            <a:ext cx="5257800" cy="2577042"/>
          </a:xfrm>
        </p:spPr>
        <p:txBody>
          <a:bodyPr>
            <a:normAutofit fontScale="47500" lnSpcReduction="20000"/>
          </a:bodyPr>
          <a:lstStyle/>
          <a:p>
            <a:pPr marL="0" indent="0" algn="ctr">
              <a:buNone/>
            </a:pPr>
            <a:r>
              <a:rPr lang="en-US" sz="4200" dirty="0"/>
              <a:t>Product Owner</a:t>
            </a:r>
          </a:p>
          <a:p>
            <a:pPr algn="ctr"/>
            <a:r>
              <a:rPr lang="en-US" dirty="0"/>
              <a:t>Defines product vision</a:t>
            </a:r>
          </a:p>
          <a:p>
            <a:pPr algn="ctr"/>
            <a:r>
              <a:rPr lang="en-US" dirty="0"/>
              <a:t>Prioritizes product backlog</a:t>
            </a:r>
          </a:p>
          <a:p>
            <a:pPr algn="ctr"/>
            <a:r>
              <a:rPr lang="en-US" dirty="0"/>
              <a:t>Represents stakeholders</a:t>
            </a:r>
          </a:p>
          <a:p>
            <a:pPr algn="ctr"/>
            <a:endParaRPr lang="en-US" dirty="0"/>
          </a:p>
          <a:p>
            <a:pPr marL="0" indent="0" algn="ctr">
              <a:buNone/>
            </a:pPr>
            <a:r>
              <a:rPr lang="en-US" sz="4200" dirty="0"/>
              <a:t>Scrum Master</a:t>
            </a:r>
          </a:p>
          <a:p>
            <a:pPr algn="ctr"/>
            <a:r>
              <a:rPr lang="en-US" dirty="0"/>
              <a:t>Facilitates Scrum events</a:t>
            </a:r>
          </a:p>
          <a:p>
            <a:pPr algn="ctr"/>
            <a:r>
              <a:rPr lang="en-US" dirty="0"/>
              <a:t>Removes impediments</a:t>
            </a:r>
          </a:p>
          <a:p>
            <a:pPr algn="ctr"/>
            <a:r>
              <a:rPr lang="en-US" dirty="0"/>
              <a:t>Promotes Agile practices</a:t>
            </a:r>
          </a:p>
          <a:p>
            <a:pPr marL="0" indent="0" algn="ctr">
              <a:buNone/>
            </a:pPr>
            <a:endParaRPr lang="en-US" dirty="0"/>
          </a:p>
        </p:txBody>
      </p:sp>
      <p:sp>
        <p:nvSpPr>
          <p:cNvPr id="7" name="Content Placeholder 2">
            <a:extLst>
              <a:ext uri="{FF2B5EF4-FFF2-40B4-BE49-F238E27FC236}">
                <a16:creationId xmlns:a16="http://schemas.microsoft.com/office/drawing/2014/main" id="{C9E9EEEE-8B9A-AA37-A102-8D3FE673F229}"/>
              </a:ext>
            </a:extLst>
          </p:cNvPr>
          <p:cNvSpPr txBox="1">
            <a:spLocks/>
          </p:cNvSpPr>
          <p:nvPr/>
        </p:nvSpPr>
        <p:spPr>
          <a:xfrm>
            <a:off x="6262511" y="1825625"/>
            <a:ext cx="5257800" cy="2577042"/>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200" dirty="0"/>
              <a:t>Developer</a:t>
            </a:r>
          </a:p>
          <a:p>
            <a:pPr algn="ctr"/>
            <a:r>
              <a:rPr lang="en-US" dirty="0"/>
              <a:t>Builds application features</a:t>
            </a:r>
          </a:p>
          <a:p>
            <a:pPr algn="ctr"/>
            <a:r>
              <a:rPr lang="en-US" dirty="0"/>
              <a:t>Collaborates with team members</a:t>
            </a:r>
          </a:p>
          <a:p>
            <a:pPr algn="ctr"/>
            <a:r>
              <a:rPr lang="en-US" dirty="0"/>
              <a:t>Delivers working software</a:t>
            </a:r>
          </a:p>
          <a:p>
            <a:pPr algn="ctr"/>
            <a:endParaRPr lang="en-US" dirty="0"/>
          </a:p>
          <a:p>
            <a:pPr marL="0" indent="0" algn="ctr">
              <a:buNone/>
            </a:pPr>
            <a:r>
              <a:rPr lang="en-US" sz="4200" dirty="0"/>
              <a:t>Tester</a:t>
            </a:r>
          </a:p>
          <a:p>
            <a:pPr algn="ctr"/>
            <a:r>
              <a:rPr lang="en-US" dirty="0"/>
              <a:t>Creates and executes test cases</a:t>
            </a:r>
          </a:p>
          <a:p>
            <a:pPr algn="ctr"/>
            <a:r>
              <a:rPr lang="en-US" dirty="0"/>
              <a:t>Validates acceptance criteria</a:t>
            </a:r>
          </a:p>
          <a:p>
            <a:pPr algn="ctr"/>
            <a:r>
              <a:rPr lang="en-US" dirty="0"/>
              <a:t>Identifies defects and quality risks</a:t>
            </a:r>
          </a:p>
        </p:txBody>
      </p:sp>
      <p:sp>
        <p:nvSpPr>
          <p:cNvPr id="8" name="TextBox 7">
            <a:extLst>
              <a:ext uri="{FF2B5EF4-FFF2-40B4-BE49-F238E27FC236}">
                <a16:creationId xmlns:a16="http://schemas.microsoft.com/office/drawing/2014/main" id="{EDE96615-9582-3913-8747-95E58EA5A82A}"/>
              </a:ext>
            </a:extLst>
          </p:cNvPr>
          <p:cNvSpPr txBox="1"/>
          <p:nvPr/>
        </p:nvSpPr>
        <p:spPr>
          <a:xfrm>
            <a:off x="3736622" y="4537604"/>
            <a:ext cx="4715933" cy="523220"/>
          </a:xfrm>
          <a:prstGeom prst="rect">
            <a:avLst/>
          </a:prstGeom>
          <a:noFill/>
        </p:spPr>
        <p:txBody>
          <a:bodyPr wrap="square" rtlCol="0">
            <a:spAutoFit/>
          </a:bodyPr>
          <a:lstStyle/>
          <a:p>
            <a:pPr algn="ctr"/>
            <a:r>
              <a:rPr lang="en-US" sz="2800" dirty="0"/>
              <a:t>Why These Roles Matter</a:t>
            </a:r>
          </a:p>
        </p:txBody>
      </p:sp>
      <p:sp>
        <p:nvSpPr>
          <p:cNvPr id="9" name="TextBox 8">
            <a:extLst>
              <a:ext uri="{FF2B5EF4-FFF2-40B4-BE49-F238E27FC236}">
                <a16:creationId xmlns:a16="http://schemas.microsoft.com/office/drawing/2014/main" id="{EF41DA63-96F9-5A8C-DAC4-7CC1691208E2}"/>
              </a:ext>
            </a:extLst>
          </p:cNvPr>
          <p:cNvSpPr txBox="1"/>
          <p:nvPr/>
        </p:nvSpPr>
        <p:spPr>
          <a:xfrm>
            <a:off x="4505676" y="5077978"/>
            <a:ext cx="3513667" cy="923330"/>
          </a:xfrm>
          <a:prstGeom prst="rect">
            <a:avLst/>
          </a:prstGeom>
          <a:noFill/>
        </p:spPr>
        <p:txBody>
          <a:bodyPr wrap="square" rtlCol="0">
            <a:spAutoFit/>
          </a:bodyPr>
          <a:lstStyle/>
          <a:p>
            <a:pPr marL="285750" indent="-285750">
              <a:buFont typeface="Arial" panose="020B0604020202020204" pitchFamily="34" charset="0"/>
              <a:buChar char="•"/>
            </a:pPr>
            <a:r>
              <a:rPr lang="en-US" dirty="0"/>
              <a:t>Promotes accountability</a:t>
            </a:r>
          </a:p>
          <a:p>
            <a:pPr marL="285750" indent="-285750">
              <a:buFont typeface="Arial" panose="020B0604020202020204" pitchFamily="34" charset="0"/>
              <a:buChar char="•"/>
            </a:pPr>
            <a:r>
              <a:rPr lang="en-US" dirty="0"/>
              <a:t>Improve collaboration</a:t>
            </a:r>
          </a:p>
          <a:p>
            <a:pPr marL="285750" indent="-285750">
              <a:buFont typeface="Arial" panose="020B0604020202020204" pitchFamily="34" charset="0"/>
              <a:buChar char="•"/>
            </a:pPr>
            <a:r>
              <a:rPr lang="en-US" dirty="0"/>
              <a:t>Deliver customer value</a:t>
            </a:r>
          </a:p>
        </p:txBody>
      </p:sp>
    </p:spTree>
    <p:extLst>
      <p:ext uri="{BB962C8B-B14F-4D97-AF65-F5344CB8AC3E}">
        <p14:creationId xmlns:p14="http://schemas.microsoft.com/office/powerpoint/2010/main" val="3589628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9B5F7-EA73-22B6-94CE-99999895E7D8}"/>
              </a:ext>
            </a:extLst>
          </p:cNvPr>
          <p:cNvSpPr>
            <a:spLocks noGrp="1"/>
          </p:cNvSpPr>
          <p:nvPr>
            <p:ph type="title"/>
          </p:nvPr>
        </p:nvSpPr>
        <p:spPr/>
        <p:txBody>
          <a:bodyPr/>
          <a:lstStyle/>
          <a:p>
            <a:r>
              <a:rPr lang="en-US" dirty="0"/>
              <a:t>Agile SDLC Phases</a:t>
            </a:r>
          </a:p>
        </p:txBody>
      </p:sp>
      <p:sp>
        <p:nvSpPr>
          <p:cNvPr id="6" name="TextBox 5">
            <a:extLst>
              <a:ext uri="{FF2B5EF4-FFF2-40B4-BE49-F238E27FC236}">
                <a16:creationId xmlns:a16="http://schemas.microsoft.com/office/drawing/2014/main" id="{D4C083C4-B954-3CE6-B724-D2D074F96080}"/>
              </a:ext>
            </a:extLst>
          </p:cNvPr>
          <p:cNvSpPr txBox="1"/>
          <p:nvPr/>
        </p:nvSpPr>
        <p:spPr>
          <a:xfrm>
            <a:off x="838200" y="4416082"/>
            <a:ext cx="3073400" cy="784830"/>
          </a:xfrm>
          <a:prstGeom prst="rect">
            <a:avLst/>
          </a:prstGeom>
          <a:noFill/>
        </p:spPr>
        <p:txBody>
          <a:bodyPr wrap="square" rtlCol="0">
            <a:spAutoFit/>
          </a:bodyPr>
          <a:lstStyle/>
          <a:p>
            <a:r>
              <a:rPr lang="en-US" sz="1500" dirty="0"/>
              <a:t>Sprint Review</a:t>
            </a:r>
          </a:p>
          <a:p>
            <a:pPr marL="285750" indent="-285750">
              <a:buFont typeface="Arial" panose="020B0604020202020204" pitchFamily="34" charset="0"/>
              <a:buChar char="•"/>
            </a:pPr>
            <a:r>
              <a:rPr lang="en-US" sz="1500" dirty="0"/>
              <a:t>Demonstrate completed work</a:t>
            </a:r>
          </a:p>
          <a:p>
            <a:pPr marL="285750" indent="-285750">
              <a:buFont typeface="Arial" panose="020B0604020202020204" pitchFamily="34" charset="0"/>
              <a:buChar char="•"/>
            </a:pPr>
            <a:r>
              <a:rPr lang="en-US" sz="1500" dirty="0"/>
              <a:t>Gather Stakeholder feedback</a:t>
            </a:r>
          </a:p>
        </p:txBody>
      </p:sp>
      <p:sp>
        <p:nvSpPr>
          <p:cNvPr id="7" name="TextBox 6">
            <a:extLst>
              <a:ext uri="{FF2B5EF4-FFF2-40B4-BE49-F238E27FC236}">
                <a16:creationId xmlns:a16="http://schemas.microsoft.com/office/drawing/2014/main" id="{8184EB37-6288-A429-3550-A487DC6535F3}"/>
              </a:ext>
            </a:extLst>
          </p:cNvPr>
          <p:cNvSpPr txBox="1"/>
          <p:nvPr/>
        </p:nvSpPr>
        <p:spPr>
          <a:xfrm>
            <a:off x="838199" y="2475043"/>
            <a:ext cx="2223910" cy="784830"/>
          </a:xfrm>
          <a:prstGeom prst="rect">
            <a:avLst/>
          </a:prstGeom>
          <a:noFill/>
        </p:spPr>
        <p:txBody>
          <a:bodyPr wrap="square" rtlCol="0">
            <a:spAutoFit/>
          </a:bodyPr>
          <a:lstStyle/>
          <a:p>
            <a:r>
              <a:rPr lang="en-US" sz="1500" dirty="0"/>
              <a:t>Sprint Planning</a:t>
            </a:r>
          </a:p>
          <a:p>
            <a:pPr marL="285750" indent="-285750">
              <a:buFont typeface="Arial" panose="020B0604020202020204" pitchFamily="34" charset="0"/>
              <a:buChar char="•"/>
            </a:pPr>
            <a:r>
              <a:rPr lang="en-US" sz="1500" dirty="0"/>
              <a:t>Select spring work</a:t>
            </a:r>
          </a:p>
          <a:p>
            <a:pPr marL="285750" indent="-285750">
              <a:buFont typeface="Arial" panose="020B0604020202020204" pitchFamily="34" charset="0"/>
              <a:buChar char="•"/>
            </a:pPr>
            <a:r>
              <a:rPr lang="en-US" sz="1500" dirty="0"/>
              <a:t>Establish sprint goals</a:t>
            </a:r>
          </a:p>
        </p:txBody>
      </p:sp>
      <p:sp>
        <p:nvSpPr>
          <p:cNvPr id="8" name="TextBox 7">
            <a:extLst>
              <a:ext uri="{FF2B5EF4-FFF2-40B4-BE49-F238E27FC236}">
                <a16:creationId xmlns:a16="http://schemas.microsoft.com/office/drawing/2014/main" id="{74A6F4BD-23D7-2BB2-EE3F-F1F4D92BFC70}"/>
              </a:ext>
            </a:extLst>
          </p:cNvPr>
          <p:cNvSpPr txBox="1"/>
          <p:nvPr/>
        </p:nvSpPr>
        <p:spPr>
          <a:xfrm>
            <a:off x="838199" y="3190301"/>
            <a:ext cx="2878665" cy="553998"/>
          </a:xfrm>
          <a:prstGeom prst="rect">
            <a:avLst/>
          </a:prstGeom>
          <a:noFill/>
        </p:spPr>
        <p:txBody>
          <a:bodyPr wrap="square" rtlCol="0">
            <a:spAutoFit/>
          </a:bodyPr>
          <a:lstStyle/>
          <a:p>
            <a:r>
              <a:rPr lang="en-US" sz="1500" dirty="0"/>
              <a:t>Development</a:t>
            </a:r>
          </a:p>
          <a:p>
            <a:pPr marL="285750" indent="-285750">
              <a:buFont typeface="Arial" panose="020B0604020202020204" pitchFamily="34" charset="0"/>
              <a:buChar char="•"/>
            </a:pPr>
            <a:r>
              <a:rPr lang="en-US" sz="1500" dirty="0"/>
              <a:t>Build features incrementally</a:t>
            </a:r>
          </a:p>
        </p:txBody>
      </p:sp>
      <p:sp>
        <p:nvSpPr>
          <p:cNvPr id="9" name="TextBox 8">
            <a:extLst>
              <a:ext uri="{FF2B5EF4-FFF2-40B4-BE49-F238E27FC236}">
                <a16:creationId xmlns:a16="http://schemas.microsoft.com/office/drawing/2014/main" id="{0BABE677-3C90-85FB-09EB-DD55C98B2B27}"/>
              </a:ext>
            </a:extLst>
          </p:cNvPr>
          <p:cNvSpPr txBox="1"/>
          <p:nvPr/>
        </p:nvSpPr>
        <p:spPr>
          <a:xfrm>
            <a:off x="838200" y="3706402"/>
            <a:ext cx="3073400" cy="784830"/>
          </a:xfrm>
          <a:prstGeom prst="rect">
            <a:avLst/>
          </a:prstGeom>
          <a:noFill/>
        </p:spPr>
        <p:txBody>
          <a:bodyPr wrap="square" rtlCol="0">
            <a:spAutoFit/>
          </a:bodyPr>
          <a:lstStyle/>
          <a:p>
            <a:r>
              <a:rPr lang="en-US" sz="1500" dirty="0"/>
              <a:t>Testing</a:t>
            </a:r>
          </a:p>
          <a:p>
            <a:pPr marL="285750" indent="-285750">
              <a:buFont typeface="Arial" panose="020B0604020202020204" pitchFamily="34" charset="0"/>
              <a:buChar char="•"/>
            </a:pPr>
            <a:r>
              <a:rPr lang="en-US" sz="1500" dirty="0"/>
              <a:t>Continuous validation</a:t>
            </a:r>
          </a:p>
          <a:p>
            <a:pPr marL="285750" indent="-285750">
              <a:buFont typeface="Arial" panose="020B0604020202020204" pitchFamily="34" charset="0"/>
              <a:buChar char="•"/>
            </a:pPr>
            <a:r>
              <a:rPr lang="en-US" sz="1500" dirty="0"/>
              <a:t>Acceptance criteria verification</a:t>
            </a:r>
          </a:p>
        </p:txBody>
      </p:sp>
      <p:sp>
        <p:nvSpPr>
          <p:cNvPr id="12" name="TextBox 11">
            <a:extLst>
              <a:ext uri="{FF2B5EF4-FFF2-40B4-BE49-F238E27FC236}">
                <a16:creationId xmlns:a16="http://schemas.microsoft.com/office/drawing/2014/main" id="{DEAE6A23-10AD-1980-259A-F5BADA278C4A}"/>
              </a:ext>
            </a:extLst>
          </p:cNvPr>
          <p:cNvSpPr txBox="1"/>
          <p:nvPr/>
        </p:nvSpPr>
        <p:spPr>
          <a:xfrm>
            <a:off x="838199" y="5197646"/>
            <a:ext cx="2751667" cy="784830"/>
          </a:xfrm>
          <a:prstGeom prst="rect">
            <a:avLst/>
          </a:prstGeom>
          <a:noFill/>
        </p:spPr>
        <p:txBody>
          <a:bodyPr wrap="square">
            <a:spAutoFit/>
          </a:bodyPr>
          <a:lstStyle/>
          <a:p>
            <a:r>
              <a:rPr lang="en-US" sz="1500" dirty="0"/>
              <a:t>Sprint Retrospective</a:t>
            </a:r>
          </a:p>
          <a:p>
            <a:pPr marL="285750" indent="-285750">
              <a:buFont typeface="Arial" panose="020B0604020202020204" pitchFamily="34" charset="0"/>
              <a:buChar char="•"/>
            </a:pPr>
            <a:r>
              <a:rPr lang="en-US" sz="1500" dirty="0"/>
              <a:t>Evaluate performance</a:t>
            </a:r>
          </a:p>
          <a:p>
            <a:pPr marL="285750" indent="-285750">
              <a:buFont typeface="Arial" panose="020B0604020202020204" pitchFamily="34" charset="0"/>
              <a:buChar char="•"/>
            </a:pPr>
            <a:r>
              <a:rPr lang="en-US" sz="1500" dirty="0"/>
              <a:t>Identify improvements</a:t>
            </a:r>
          </a:p>
        </p:txBody>
      </p:sp>
      <p:sp>
        <p:nvSpPr>
          <p:cNvPr id="14" name="TextBox 13">
            <a:extLst>
              <a:ext uri="{FF2B5EF4-FFF2-40B4-BE49-F238E27FC236}">
                <a16:creationId xmlns:a16="http://schemas.microsoft.com/office/drawing/2014/main" id="{147062E5-3860-F826-0F49-9A0CE45735E5}"/>
              </a:ext>
            </a:extLst>
          </p:cNvPr>
          <p:cNvSpPr txBox="1"/>
          <p:nvPr/>
        </p:nvSpPr>
        <p:spPr>
          <a:xfrm>
            <a:off x="838200" y="1690213"/>
            <a:ext cx="2878665" cy="784830"/>
          </a:xfrm>
          <a:prstGeom prst="rect">
            <a:avLst/>
          </a:prstGeom>
          <a:noFill/>
        </p:spPr>
        <p:txBody>
          <a:bodyPr wrap="square" rtlCol="0">
            <a:spAutoFit/>
          </a:bodyPr>
          <a:lstStyle/>
          <a:p>
            <a:r>
              <a:rPr lang="en-US" sz="1500" dirty="0"/>
              <a:t>Requirements Gathering</a:t>
            </a:r>
          </a:p>
          <a:p>
            <a:pPr marL="285750" indent="-285750">
              <a:lnSpc>
                <a:spcPct val="100000"/>
              </a:lnSpc>
              <a:buFont typeface="Arial" panose="020B0604020202020204" pitchFamily="34" charset="0"/>
              <a:buChar char="•"/>
            </a:pPr>
            <a:r>
              <a:rPr lang="en-US" sz="1500" dirty="0"/>
              <a:t>User stories</a:t>
            </a:r>
          </a:p>
          <a:p>
            <a:pPr marL="285750" indent="-285750">
              <a:lnSpc>
                <a:spcPct val="100000"/>
              </a:lnSpc>
              <a:buFont typeface="Arial" panose="020B0604020202020204" pitchFamily="34" charset="0"/>
              <a:buChar char="•"/>
            </a:pPr>
            <a:r>
              <a:rPr lang="en-US" sz="1500" dirty="0"/>
              <a:t>Stakeholder feedback</a:t>
            </a:r>
          </a:p>
        </p:txBody>
      </p:sp>
      <p:pic>
        <p:nvPicPr>
          <p:cNvPr id="16" name="Picture 15">
            <a:extLst>
              <a:ext uri="{FF2B5EF4-FFF2-40B4-BE49-F238E27FC236}">
                <a16:creationId xmlns:a16="http://schemas.microsoft.com/office/drawing/2014/main" id="{122329B6-8E51-A612-959D-75041BADA399}"/>
              </a:ext>
            </a:extLst>
          </p:cNvPr>
          <p:cNvPicPr>
            <a:picLocks noChangeAspect="1"/>
          </p:cNvPicPr>
          <p:nvPr/>
        </p:nvPicPr>
        <p:blipFill>
          <a:blip r:embed="rId3"/>
          <a:stretch>
            <a:fillRect/>
          </a:stretch>
        </p:blipFill>
        <p:spPr>
          <a:xfrm>
            <a:off x="3503083" y="1455003"/>
            <a:ext cx="8572500" cy="4286250"/>
          </a:xfrm>
          <a:prstGeom prst="rect">
            <a:avLst/>
          </a:prstGeom>
        </p:spPr>
      </p:pic>
    </p:spTree>
    <p:extLst>
      <p:ext uri="{BB962C8B-B14F-4D97-AF65-F5344CB8AC3E}">
        <p14:creationId xmlns:p14="http://schemas.microsoft.com/office/powerpoint/2010/main" val="1961367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7D41C-2DE1-0288-F485-CEF6BCA452C6}"/>
              </a:ext>
            </a:extLst>
          </p:cNvPr>
          <p:cNvSpPr>
            <a:spLocks noGrp="1"/>
          </p:cNvSpPr>
          <p:nvPr>
            <p:ph type="title"/>
          </p:nvPr>
        </p:nvSpPr>
        <p:spPr/>
        <p:txBody>
          <a:bodyPr/>
          <a:lstStyle/>
          <a:p>
            <a:r>
              <a:rPr lang="en-US" dirty="0"/>
              <a:t>Scrum Events and Organizational Tools</a:t>
            </a:r>
          </a:p>
        </p:txBody>
      </p:sp>
      <p:sp>
        <p:nvSpPr>
          <p:cNvPr id="4" name="TextBox 3">
            <a:extLst>
              <a:ext uri="{FF2B5EF4-FFF2-40B4-BE49-F238E27FC236}">
                <a16:creationId xmlns:a16="http://schemas.microsoft.com/office/drawing/2014/main" id="{02F65DAC-4C4F-1908-8E6C-34BF1B453C4E}"/>
              </a:ext>
            </a:extLst>
          </p:cNvPr>
          <p:cNvSpPr txBox="1"/>
          <p:nvPr/>
        </p:nvSpPr>
        <p:spPr>
          <a:xfrm>
            <a:off x="838200" y="1643896"/>
            <a:ext cx="5257800" cy="1908215"/>
          </a:xfrm>
          <a:prstGeom prst="rect">
            <a:avLst/>
          </a:prstGeom>
          <a:noFill/>
        </p:spPr>
        <p:txBody>
          <a:bodyPr wrap="square" rtlCol="0">
            <a:spAutoFit/>
          </a:bodyPr>
          <a:lstStyle/>
          <a:p>
            <a:pPr algn="ctr"/>
            <a:r>
              <a:rPr lang="en-US" sz="2800" dirty="0"/>
              <a:t>Scrum Events</a:t>
            </a:r>
          </a:p>
          <a:p>
            <a:pPr marL="285750" indent="-285750" algn="ctr">
              <a:buFont typeface="Arial" panose="020B0604020202020204" pitchFamily="34" charset="0"/>
              <a:buChar char="•"/>
            </a:pPr>
            <a:r>
              <a:rPr lang="en-US" dirty="0"/>
              <a:t>Sprint Planning</a:t>
            </a:r>
          </a:p>
          <a:p>
            <a:pPr marL="285750" indent="-285750" algn="ctr">
              <a:buFont typeface="Arial" panose="020B0604020202020204" pitchFamily="34" charset="0"/>
              <a:buChar char="•"/>
            </a:pPr>
            <a:r>
              <a:rPr lang="en-US" dirty="0"/>
              <a:t>Daily Scrum</a:t>
            </a:r>
          </a:p>
          <a:p>
            <a:pPr marL="285750" indent="-285750" algn="ctr">
              <a:buFont typeface="Arial" panose="020B0604020202020204" pitchFamily="34" charset="0"/>
              <a:buChar char="•"/>
            </a:pPr>
            <a:r>
              <a:rPr lang="en-US" dirty="0"/>
              <a:t>Backlog Refinement</a:t>
            </a:r>
          </a:p>
          <a:p>
            <a:pPr marL="285750" indent="-285750" algn="ctr">
              <a:buFont typeface="Arial" panose="020B0604020202020204" pitchFamily="34" charset="0"/>
              <a:buChar char="•"/>
            </a:pPr>
            <a:r>
              <a:rPr lang="en-US" dirty="0"/>
              <a:t>Sprint Review</a:t>
            </a:r>
          </a:p>
          <a:p>
            <a:pPr marL="285750" indent="-285750" algn="ctr">
              <a:buFont typeface="Arial" panose="020B0604020202020204" pitchFamily="34" charset="0"/>
              <a:buChar char="•"/>
            </a:pPr>
            <a:r>
              <a:rPr lang="en-US" dirty="0"/>
              <a:t>Sprint Retrospective</a:t>
            </a:r>
          </a:p>
        </p:txBody>
      </p:sp>
      <p:sp>
        <p:nvSpPr>
          <p:cNvPr id="6" name="TextBox 5">
            <a:extLst>
              <a:ext uri="{FF2B5EF4-FFF2-40B4-BE49-F238E27FC236}">
                <a16:creationId xmlns:a16="http://schemas.microsoft.com/office/drawing/2014/main" id="{00ACDE27-54C5-FE34-6FB3-209E1A50F50C}"/>
              </a:ext>
            </a:extLst>
          </p:cNvPr>
          <p:cNvSpPr txBox="1"/>
          <p:nvPr/>
        </p:nvSpPr>
        <p:spPr>
          <a:xfrm>
            <a:off x="6096000" y="1740198"/>
            <a:ext cx="5257800" cy="1631216"/>
          </a:xfrm>
          <a:prstGeom prst="rect">
            <a:avLst/>
          </a:prstGeom>
          <a:noFill/>
        </p:spPr>
        <p:txBody>
          <a:bodyPr wrap="square" rtlCol="0">
            <a:spAutoFit/>
          </a:bodyPr>
          <a:lstStyle/>
          <a:p>
            <a:pPr algn="ctr"/>
            <a:r>
              <a:rPr lang="en-US" sz="2800" dirty="0"/>
              <a:t>Agile Tools</a:t>
            </a:r>
          </a:p>
          <a:p>
            <a:pPr marL="285750" indent="-285750" algn="ctr">
              <a:buFont typeface="Arial" panose="020B0604020202020204" pitchFamily="34" charset="0"/>
              <a:buChar char="•"/>
            </a:pPr>
            <a:r>
              <a:rPr lang="en-US" dirty="0"/>
              <a:t>Product Backlog</a:t>
            </a:r>
          </a:p>
          <a:p>
            <a:pPr marL="285750" indent="-285750" algn="ctr">
              <a:buFont typeface="Arial" panose="020B0604020202020204" pitchFamily="34" charset="0"/>
              <a:buChar char="•"/>
            </a:pPr>
            <a:r>
              <a:rPr lang="en-US" dirty="0"/>
              <a:t>JIRA</a:t>
            </a:r>
          </a:p>
          <a:p>
            <a:pPr marL="285750" indent="-285750" algn="ctr">
              <a:buFont typeface="Arial" panose="020B0604020202020204" pitchFamily="34" charset="0"/>
              <a:buChar char="•"/>
            </a:pPr>
            <a:r>
              <a:rPr lang="en-US" dirty="0"/>
              <a:t>Task Boards</a:t>
            </a:r>
          </a:p>
          <a:p>
            <a:pPr marL="285750" indent="-285750" algn="ctr">
              <a:buFont typeface="Arial" panose="020B0604020202020204" pitchFamily="34" charset="0"/>
              <a:buChar char="•"/>
            </a:pPr>
            <a:r>
              <a:rPr lang="en-US" dirty="0"/>
              <a:t>Burndown Charts</a:t>
            </a:r>
          </a:p>
        </p:txBody>
      </p:sp>
      <p:sp>
        <p:nvSpPr>
          <p:cNvPr id="8" name="TextBox 7">
            <a:extLst>
              <a:ext uri="{FF2B5EF4-FFF2-40B4-BE49-F238E27FC236}">
                <a16:creationId xmlns:a16="http://schemas.microsoft.com/office/drawing/2014/main" id="{11E58150-793B-304C-3753-F939F2BA8537}"/>
              </a:ext>
            </a:extLst>
          </p:cNvPr>
          <p:cNvSpPr txBox="1"/>
          <p:nvPr/>
        </p:nvSpPr>
        <p:spPr>
          <a:xfrm>
            <a:off x="3467100" y="4015274"/>
            <a:ext cx="5257800" cy="1631216"/>
          </a:xfrm>
          <a:prstGeom prst="rect">
            <a:avLst/>
          </a:prstGeom>
          <a:noFill/>
        </p:spPr>
        <p:txBody>
          <a:bodyPr wrap="square" rtlCol="0">
            <a:spAutoFit/>
          </a:bodyPr>
          <a:lstStyle/>
          <a:p>
            <a:pPr algn="ctr"/>
            <a:r>
              <a:rPr lang="en-US" sz="2800" dirty="0"/>
              <a:t>Benefits</a:t>
            </a:r>
          </a:p>
          <a:p>
            <a:pPr marL="285750" indent="-285750" algn="ctr">
              <a:buFont typeface="Arial" panose="020B0604020202020204" pitchFamily="34" charset="0"/>
              <a:buChar char="•"/>
            </a:pPr>
            <a:r>
              <a:rPr lang="en-US" dirty="0"/>
              <a:t> Transparency</a:t>
            </a:r>
          </a:p>
          <a:p>
            <a:pPr marL="285750" indent="-285750" algn="ctr">
              <a:buFont typeface="Arial" panose="020B0604020202020204" pitchFamily="34" charset="0"/>
              <a:buChar char="•"/>
            </a:pPr>
            <a:r>
              <a:rPr lang="en-US" dirty="0"/>
              <a:t>Accountability</a:t>
            </a:r>
          </a:p>
          <a:p>
            <a:pPr marL="285750" indent="-285750" algn="ctr">
              <a:buFont typeface="Arial" panose="020B0604020202020204" pitchFamily="34" charset="0"/>
              <a:buChar char="•"/>
            </a:pPr>
            <a:r>
              <a:rPr lang="en-US" dirty="0"/>
              <a:t>Improved organization</a:t>
            </a:r>
          </a:p>
          <a:p>
            <a:pPr marL="285750" indent="-285750" algn="ctr">
              <a:buFont typeface="Arial" panose="020B0604020202020204" pitchFamily="34" charset="0"/>
              <a:buChar char="•"/>
            </a:pPr>
            <a:r>
              <a:rPr lang="en-US" dirty="0"/>
              <a:t>Better collaboration</a:t>
            </a:r>
          </a:p>
        </p:txBody>
      </p:sp>
    </p:spTree>
    <p:extLst>
      <p:ext uri="{BB962C8B-B14F-4D97-AF65-F5344CB8AC3E}">
        <p14:creationId xmlns:p14="http://schemas.microsoft.com/office/powerpoint/2010/main" val="348713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11A5D-9F56-0F7A-00EF-4647E4CB122A}"/>
              </a:ext>
            </a:extLst>
          </p:cNvPr>
          <p:cNvSpPr>
            <a:spLocks noGrp="1"/>
          </p:cNvSpPr>
          <p:nvPr>
            <p:ph type="title"/>
          </p:nvPr>
        </p:nvSpPr>
        <p:spPr/>
        <p:txBody>
          <a:bodyPr/>
          <a:lstStyle/>
          <a:p>
            <a:r>
              <a:rPr lang="en-US" dirty="0"/>
              <a:t>Communication in Agile Teams</a:t>
            </a:r>
          </a:p>
        </p:txBody>
      </p:sp>
      <p:sp>
        <p:nvSpPr>
          <p:cNvPr id="4" name="TextBox 3">
            <a:extLst>
              <a:ext uri="{FF2B5EF4-FFF2-40B4-BE49-F238E27FC236}">
                <a16:creationId xmlns:a16="http://schemas.microsoft.com/office/drawing/2014/main" id="{5934CEA7-EA3E-6EA7-E269-5BFDD2A68D16}"/>
              </a:ext>
            </a:extLst>
          </p:cNvPr>
          <p:cNvSpPr txBox="1"/>
          <p:nvPr/>
        </p:nvSpPr>
        <p:spPr>
          <a:xfrm>
            <a:off x="838199" y="1794933"/>
            <a:ext cx="3699933" cy="4524315"/>
          </a:xfrm>
          <a:prstGeom prst="rect">
            <a:avLst/>
          </a:prstGeom>
          <a:noFill/>
        </p:spPr>
        <p:txBody>
          <a:bodyPr wrap="square" rtlCol="0">
            <a:spAutoFit/>
          </a:bodyPr>
          <a:lstStyle/>
          <a:p>
            <a:r>
              <a:rPr lang="en-US" dirty="0"/>
              <a:t>Communication Methods</a:t>
            </a:r>
          </a:p>
          <a:p>
            <a:pPr marL="285750" indent="-285750">
              <a:buFont typeface="Arial" panose="020B0604020202020204" pitchFamily="34" charset="0"/>
              <a:buChar char="•"/>
            </a:pPr>
            <a:r>
              <a:rPr lang="en-US" dirty="0"/>
              <a:t>Daily Scrum meetings</a:t>
            </a:r>
          </a:p>
          <a:p>
            <a:pPr marL="285750" indent="-285750">
              <a:buFont typeface="Arial" panose="020B0604020202020204" pitchFamily="34" charset="0"/>
              <a:buChar char="•"/>
            </a:pPr>
            <a:r>
              <a:rPr lang="en-US" dirty="0"/>
              <a:t>Sprint Reviews</a:t>
            </a:r>
          </a:p>
          <a:p>
            <a:pPr marL="285750" indent="-285750">
              <a:buFont typeface="Arial" panose="020B0604020202020204" pitchFamily="34" charset="0"/>
              <a:buChar char="•"/>
            </a:pPr>
            <a:r>
              <a:rPr lang="en-US" dirty="0"/>
              <a:t>Stakeholder discussions</a:t>
            </a:r>
          </a:p>
          <a:p>
            <a:pPr marL="285750" indent="-285750">
              <a:buFont typeface="Arial" panose="020B0604020202020204" pitchFamily="34" charset="0"/>
              <a:buChar char="•"/>
            </a:pPr>
            <a:r>
              <a:rPr lang="en-US" dirty="0"/>
              <a:t>Email communication</a:t>
            </a:r>
          </a:p>
          <a:p>
            <a:pPr marL="285750" indent="-285750">
              <a:buFont typeface="Arial" panose="020B0604020202020204" pitchFamily="34" charset="0"/>
              <a:buChar char="•"/>
            </a:pPr>
            <a:endParaRPr lang="en-US" dirty="0"/>
          </a:p>
          <a:p>
            <a:r>
              <a:rPr lang="en-US" dirty="0"/>
              <a:t>Examples From SNHU Travel</a:t>
            </a:r>
          </a:p>
          <a:p>
            <a:pPr marL="285750" indent="-285750">
              <a:buFont typeface="Arial" panose="020B0604020202020204" pitchFamily="34" charset="0"/>
              <a:buChar char="•"/>
            </a:pPr>
            <a:r>
              <a:rPr lang="en-US" dirty="0"/>
              <a:t>Tester clarification email</a:t>
            </a:r>
          </a:p>
          <a:p>
            <a:pPr marL="285750" indent="-285750">
              <a:buFont typeface="Arial" panose="020B0604020202020204" pitchFamily="34" charset="0"/>
              <a:buChar char="•"/>
            </a:pPr>
            <a:r>
              <a:rPr lang="en-US" dirty="0"/>
              <a:t>Wellness travel update request</a:t>
            </a:r>
          </a:p>
          <a:p>
            <a:pPr marL="285750" indent="-285750">
              <a:buFont typeface="Arial" panose="020B0604020202020204" pitchFamily="34" charset="0"/>
              <a:buChar char="•"/>
            </a:pPr>
            <a:r>
              <a:rPr lang="en-US" dirty="0"/>
              <a:t>Daily progress discussions</a:t>
            </a:r>
          </a:p>
          <a:p>
            <a:pPr marL="285750" indent="-285750">
              <a:buFont typeface="Arial" panose="020B0604020202020204" pitchFamily="34" charset="0"/>
              <a:buChar char="•"/>
            </a:pPr>
            <a:endParaRPr lang="en-US" dirty="0"/>
          </a:p>
          <a:p>
            <a:r>
              <a:rPr lang="en-US" dirty="0"/>
              <a:t>Benefits</a:t>
            </a:r>
          </a:p>
          <a:p>
            <a:pPr marL="285750" indent="-285750">
              <a:buFont typeface="Arial" panose="020B0604020202020204" pitchFamily="34" charset="0"/>
              <a:buChar char="•"/>
            </a:pPr>
            <a:r>
              <a:rPr lang="en-US" dirty="0"/>
              <a:t>Reduces misunderstandings</a:t>
            </a:r>
          </a:p>
          <a:p>
            <a:pPr marL="285750" indent="-285750">
              <a:buFont typeface="Arial" panose="020B0604020202020204" pitchFamily="34" charset="0"/>
              <a:buChar char="•"/>
            </a:pPr>
            <a:r>
              <a:rPr lang="en-US" dirty="0"/>
              <a:t>Improves teamwork</a:t>
            </a:r>
          </a:p>
          <a:p>
            <a:pPr marL="285750" indent="-285750">
              <a:buFont typeface="Arial" panose="020B0604020202020204" pitchFamily="34" charset="0"/>
              <a:buChar char="•"/>
            </a:pPr>
            <a:r>
              <a:rPr lang="en-US" dirty="0"/>
              <a:t>Supports transparency</a:t>
            </a:r>
          </a:p>
          <a:p>
            <a:pPr marL="285750" indent="-285750">
              <a:buFont typeface="Arial" panose="020B0604020202020204" pitchFamily="34" charset="0"/>
              <a:buChar char="•"/>
            </a:pPr>
            <a:r>
              <a:rPr lang="en-US" dirty="0"/>
              <a:t>Accelerates problem solving</a:t>
            </a:r>
          </a:p>
        </p:txBody>
      </p:sp>
      <p:pic>
        <p:nvPicPr>
          <p:cNvPr id="8" name="Picture 7">
            <a:extLst>
              <a:ext uri="{FF2B5EF4-FFF2-40B4-BE49-F238E27FC236}">
                <a16:creationId xmlns:a16="http://schemas.microsoft.com/office/drawing/2014/main" id="{F1363821-BA7B-529B-8A6B-E765F651C9F1}"/>
              </a:ext>
            </a:extLst>
          </p:cNvPr>
          <p:cNvPicPr>
            <a:picLocks noChangeAspect="1"/>
          </p:cNvPicPr>
          <p:nvPr/>
        </p:nvPicPr>
        <p:blipFill>
          <a:blip r:embed="rId3"/>
          <a:stretch>
            <a:fillRect/>
          </a:stretch>
        </p:blipFill>
        <p:spPr>
          <a:xfrm>
            <a:off x="5417819" y="2027630"/>
            <a:ext cx="6088380" cy="4058920"/>
          </a:xfrm>
          <a:prstGeom prst="rect">
            <a:avLst/>
          </a:prstGeom>
        </p:spPr>
      </p:pic>
    </p:spTree>
    <p:extLst>
      <p:ext uri="{BB962C8B-B14F-4D97-AF65-F5344CB8AC3E}">
        <p14:creationId xmlns:p14="http://schemas.microsoft.com/office/powerpoint/2010/main" val="3343791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C2C39-790B-0C5F-13BE-8548ED0E08C0}"/>
              </a:ext>
            </a:extLst>
          </p:cNvPr>
          <p:cNvSpPr>
            <a:spLocks noGrp="1"/>
          </p:cNvSpPr>
          <p:nvPr>
            <p:ph type="title"/>
          </p:nvPr>
        </p:nvSpPr>
        <p:spPr/>
        <p:txBody>
          <a:bodyPr/>
          <a:lstStyle/>
          <a:p>
            <a:r>
              <a:rPr lang="en-US" dirty="0"/>
              <a:t>Waterfall vs. Agile Development</a:t>
            </a:r>
          </a:p>
        </p:txBody>
      </p:sp>
      <p:sp>
        <p:nvSpPr>
          <p:cNvPr id="4" name="TextBox 3">
            <a:extLst>
              <a:ext uri="{FF2B5EF4-FFF2-40B4-BE49-F238E27FC236}">
                <a16:creationId xmlns:a16="http://schemas.microsoft.com/office/drawing/2014/main" id="{9917F95F-55DC-2C7D-EB96-C21167DCABFE}"/>
              </a:ext>
            </a:extLst>
          </p:cNvPr>
          <p:cNvSpPr txBox="1"/>
          <p:nvPr/>
        </p:nvSpPr>
        <p:spPr>
          <a:xfrm>
            <a:off x="959556" y="1817511"/>
            <a:ext cx="5565422" cy="4524315"/>
          </a:xfrm>
          <a:prstGeom prst="rect">
            <a:avLst/>
          </a:prstGeom>
          <a:noFill/>
        </p:spPr>
        <p:txBody>
          <a:bodyPr wrap="square" rtlCol="0">
            <a:spAutoFit/>
          </a:bodyPr>
          <a:lstStyle/>
          <a:p>
            <a:r>
              <a:rPr lang="en-US" dirty="0"/>
              <a:t>Waterfall</a:t>
            </a:r>
          </a:p>
          <a:p>
            <a:pPr marL="285750" indent="-285750">
              <a:buFont typeface="Arial" panose="020B0604020202020204" pitchFamily="34" charset="0"/>
              <a:buChar char="•"/>
            </a:pPr>
            <a:r>
              <a:rPr lang="en-US" dirty="0"/>
              <a:t>Sequential process</a:t>
            </a:r>
          </a:p>
          <a:p>
            <a:pPr marL="285750" indent="-285750">
              <a:buFont typeface="Arial" panose="020B0604020202020204" pitchFamily="34" charset="0"/>
              <a:buChar char="•"/>
            </a:pPr>
            <a:r>
              <a:rPr lang="en-US" dirty="0"/>
              <a:t>Fixed requirements</a:t>
            </a:r>
          </a:p>
          <a:p>
            <a:pPr marL="285750" indent="-285750">
              <a:buFont typeface="Arial" panose="020B0604020202020204" pitchFamily="34" charset="0"/>
              <a:buChar char="•"/>
            </a:pPr>
            <a:r>
              <a:rPr lang="en-US" dirty="0"/>
              <a:t>Testing occurs late</a:t>
            </a:r>
          </a:p>
          <a:p>
            <a:pPr marL="285750" indent="-285750">
              <a:buFont typeface="Arial" panose="020B0604020202020204" pitchFamily="34" charset="0"/>
              <a:buChar char="•"/>
            </a:pPr>
            <a:r>
              <a:rPr lang="en-US" dirty="0"/>
              <a:t>Difficult to change direction</a:t>
            </a:r>
          </a:p>
          <a:p>
            <a:pPr marL="285750" indent="-285750">
              <a:buFont typeface="Arial" panose="020B0604020202020204" pitchFamily="34" charset="0"/>
              <a:buChar char="•"/>
            </a:pPr>
            <a:endParaRPr lang="en-US" dirty="0"/>
          </a:p>
          <a:p>
            <a:r>
              <a:rPr lang="en-US" dirty="0"/>
              <a:t>Agile</a:t>
            </a:r>
          </a:p>
          <a:p>
            <a:pPr marL="285750" indent="-285750">
              <a:buFont typeface="Arial" panose="020B0604020202020204" pitchFamily="34" charset="0"/>
              <a:buChar char="•"/>
            </a:pPr>
            <a:r>
              <a:rPr lang="en-US" dirty="0"/>
              <a:t>Iterative development</a:t>
            </a:r>
          </a:p>
          <a:p>
            <a:pPr marL="285750" indent="-285750">
              <a:buFont typeface="Arial" panose="020B0604020202020204" pitchFamily="34" charset="0"/>
              <a:buChar char="•"/>
            </a:pPr>
            <a:r>
              <a:rPr lang="en-US" dirty="0"/>
              <a:t>Flexible requirements</a:t>
            </a:r>
          </a:p>
          <a:p>
            <a:pPr marL="285750" indent="-285750">
              <a:buFont typeface="Arial" panose="020B0604020202020204" pitchFamily="34" charset="0"/>
              <a:buChar char="•"/>
            </a:pPr>
            <a:r>
              <a:rPr lang="en-US" dirty="0"/>
              <a:t>Continuous testing</a:t>
            </a:r>
          </a:p>
          <a:p>
            <a:pPr marL="285750" indent="-285750">
              <a:buFont typeface="Arial" panose="020B0604020202020204" pitchFamily="34" charset="0"/>
              <a:buChar char="•"/>
            </a:pPr>
            <a:r>
              <a:rPr lang="en-US" dirty="0"/>
              <a:t>Frequent stakeholder feedback</a:t>
            </a:r>
          </a:p>
          <a:p>
            <a:pPr marL="285750" indent="-285750">
              <a:buFont typeface="Arial" panose="020B0604020202020204" pitchFamily="34" charset="0"/>
              <a:buChar char="•"/>
            </a:pPr>
            <a:endParaRPr lang="en-US" dirty="0"/>
          </a:p>
          <a:p>
            <a:r>
              <a:rPr lang="en-US" dirty="0"/>
              <a:t>SNHU Travel Example</a:t>
            </a:r>
          </a:p>
          <a:p>
            <a:pPr marL="285750" indent="-285750">
              <a:buFont typeface="Arial" panose="020B0604020202020204" pitchFamily="34" charset="0"/>
              <a:buChar char="•"/>
            </a:pPr>
            <a:r>
              <a:rPr lang="en-US" dirty="0"/>
              <a:t>Shifted to wellness travel</a:t>
            </a:r>
          </a:p>
          <a:p>
            <a:pPr marL="285750" indent="-285750">
              <a:buFont typeface="Arial" panose="020B0604020202020204" pitchFamily="34" charset="0"/>
              <a:buChar char="•"/>
            </a:pPr>
            <a:r>
              <a:rPr lang="en-US" dirty="0"/>
              <a:t>Agile allowed backlog reprioritization</a:t>
            </a:r>
          </a:p>
          <a:p>
            <a:pPr marL="285750" indent="-285750">
              <a:buFont typeface="Arial" panose="020B0604020202020204" pitchFamily="34" charset="0"/>
              <a:buChar char="•"/>
            </a:pPr>
            <a:r>
              <a:rPr lang="en-US" dirty="0"/>
              <a:t>Existing work remained valuable</a:t>
            </a:r>
          </a:p>
        </p:txBody>
      </p:sp>
      <p:pic>
        <p:nvPicPr>
          <p:cNvPr id="6" name="Picture 5">
            <a:extLst>
              <a:ext uri="{FF2B5EF4-FFF2-40B4-BE49-F238E27FC236}">
                <a16:creationId xmlns:a16="http://schemas.microsoft.com/office/drawing/2014/main" id="{CDE4CA9D-4685-7EC9-5F3E-6943646705D2}"/>
              </a:ext>
            </a:extLst>
          </p:cNvPr>
          <p:cNvPicPr>
            <a:picLocks noChangeAspect="1"/>
          </p:cNvPicPr>
          <p:nvPr/>
        </p:nvPicPr>
        <p:blipFill>
          <a:blip r:embed="rId3"/>
          <a:stretch>
            <a:fillRect/>
          </a:stretch>
        </p:blipFill>
        <p:spPr>
          <a:xfrm>
            <a:off x="5746987" y="2430198"/>
            <a:ext cx="5485457" cy="3081337"/>
          </a:xfrm>
          <a:prstGeom prst="rect">
            <a:avLst/>
          </a:prstGeom>
        </p:spPr>
      </p:pic>
    </p:spTree>
    <p:extLst>
      <p:ext uri="{BB962C8B-B14F-4D97-AF65-F5344CB8AC3E}">
        <p14:creationId xmlns:p14="http://schemas.microsoft.com/office/powerpoint/2010/main" val="1643493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02F1-0804-BC1F-F573-657BDDE01C57}"/>
              </a:ext>
            </a:extLst>
          </p:cNvPr>
          <p:cNvSpPr>
            <a:spLocks noGrp="1"/>
          </p:cNvSpPr>
          <p:nvPr>
            <p:ph type="title"/>
          </p:nvPr>
        </p:nvSpPr>
        <p:spPr/>
        <p:txBody>
          <a:bodyPr/>
          <a:lstStyle/>
          <a:p>
            <a:r>
              <a:rPr lang="en-US" dirty="0"/>
              <a:t>Waterfall or Agile?</a:t>
            </a:r>
          </a:p>
        </p:txBody>
      </p:sp>
      <p:sp>
        <p:nvSpPr>
          <p:cNvPr id="4" name="TextBox 3">
            <a:extLst>
              <a:ext uri="{FF2B5EF4-FFF2-40B4-BE49-F238E27FC236}">
                <a16:creationId xmlns:a16="http://schemas.microsoft.com/office/drawing/2014/main" id="{7FCD32C9-8B00-0F00-9B9A-CEDE59B55F35}"/>
              </a:ext>
            </a:extLst>
          </p:cNvPr>
          <p:cNvSpPr txBox="1"/>
          <p:nvPr/>
        </p:nvSpPr>
        <p:spPr>
          <a:xfrm>
            <a:off x="838200" y="1690688"/>
            <a:ext cx="5257800" cy="1415772"/>
          </a:xfrm>
          <a:prstGeom prst="rect">
            <a:avLst/>
          </a:prstGeom>
          <a:noFill/>
        </p:spPr>
        <p:txBody>
          <a:bodyPr wrap="square" rtlCol="0">
            <a:spAutoFit/>
          </a:bodyPr>
          <a:lstStyle/>
          <a:p>
            <a:pPr algn="ctr"/>
            <a:r>
              <a:rPr lang="en-US" sz="3200" dirty="0"/>
              <a:t>Choose Agile </a:t>
            </a:r>
          </a:p>
          <a:p>
            <a:pPr marL="285750" indent="-285750" algn="ctr">
              <a:buFont typeface="Arial" panose="020B0604020202020204" pitchFamily="34" charset="0"/>
              <a:buChar char="•"/>
            </a:pPr>
            <a:r>
              <a:rPr lang="en-US" dirty="0"/>
              <a:t>When requirements may change</a:t>
            </a:r>
          </a:p>
          <a:p>
            <a:pPr marL="285750" indent="-285750" algn="ctr">
              <a:buFont typeface="Arial" panose="020B0604020202020204" pitchFamily="34" charset="0"/>
              <a:buChar char="•"/>
            </a:pPr>
            <a:r>
              <a:rPr lang="en-US" dirty="0"/>
              <a:t>When stakeholder feedback is important</a:t>
            </a:r>
          </a:p>
          <a:p>
            <a:pPr marL="285750" indent="-285750" algn="ctr">
              <a:buFont typeface="Arial" panose="020B0604020202020204" pitchFamily="34" charset="0"/>
              <a:buChar char="•"/>
            </a:pPr>
            <a:r>
              <a:rPr lang="en-US" dirty="0"/>
              <a:t>When incremental delivery is valuable</a:t>
            </a:r>
          </a:p>
        </p:txBody>
      </p:sp>
      <p:sp>
        <p:nvSpPr>
          <p:cNvPr id="6" name="TextBox 5">
            <a:extLst>
              <a:ext uri="{FF2B5EF4-FFF2-40B4-BE49-F238E27FC236}">
                <a16:creationId xmlns:a16="http://schemas.microsoft.com/office/drawing/2014/main" id="{D5E0EA33-31A4-8B44-854B-49711AB1972B}"/>
              </a:ext>
            </a:extLst>
          </p:cNvPr>
          <p:cNvSpPr txBox="1"/>
          <p:nvPr/>
        </p:nvSpPr>
        <p:spPr>
          <a:xfrm>
            <a:off x="6096000" y="1690688"/>
            <a:ext cx="5257800" cy="1354217"/>
          </a:xfrm>
          <a:prstGeom prst="rect">
            <a:avLst/>
          </a:prstGeom>
          <a:noFill/>
        </p:spPr>
        <p:txBody>
          <a:bodyPr wrap="square" rtlCol="0">
            <a:spAutoFit/>
          </a:bodyPr>
          <a:lstStyle/>
          <a:p>
            <a:pPr algn="ctr"/>
            <a:r>
              <a:rPr lang="en-US" sz="2800" dirty="0"/>
              <a:t>Choose Waterfall </a:t>
            </a:r>
          </a:p>
          <a:p>
            <a:pPr marL="285750" indent="-285750" algn="ctr">
              <a:buFont typeface="Arial" panose="020B0604020202020204" pitchFamily="34" charset="0"/>
              <a:buChar char="•"/>
            </a:pPr>
            <a:r>
              <a:rPr lang="en-US" dirty="0"/>
              <a:t>When requirements are stable</a:t>
            </a:r>
          </a:p>
          <a:p>
            <a:pPr marL="285750" indent="-285750" algn="ctr">
              <a:buFont typeface="Arial" panose="020B0604020202020204" pitchFamily="34" charset="0"/>
              <a:buChar char="•"/>
            </a:pPr>
            <a:r>
              <a:rPr lang="en-US" dirty="0"/>
              <a:t>When scope is clearly defined</a:t>
            </a:r>
          </a:p>
          <a:p>
            <a:pPr marL="285750" indent="-285750" algn="ctr">
              <a:buFont typeface="Arial" panose="020B0604020202020204" pitchFamily="34" charset="0"/>
              <a:buChar char="•"/>
            </a:pPr>
            <a:r>
              <a:rPr lang="en-US" dirty="0"/>
              <a:t>When extensive documentation is required</a:t>
            </a:r>
          </a:p>
        </p:txBody>
      </p:sp>
      <p:sp>
        <p:nvSpPr>
          <p:cNvPr id="8" name="TextBox 7">
            <a:extLst>
              <a:ext uri="{FF2B5EF4-FFF2-40B4-BE49-F238E27FC236}">
                <a16:creationId xmlns:a16="http://schemas.microsoft.com/office/drawing/2014/main" id="{8BCE940F-25F8-80E2-3CF2-562B00D9C11D}"/>
              </a:ext>
            </a:extLst>
          </p:cNvPr>
          <p:cNvSpPr txBox="1"/>
          <p:nvPr/>
        </p:nvSpPr>
        <p:spPr>
          <a:xfrm>
            <a:off x="3620910" y="3966983"/>
            <a:ext cx="5257800" cy="1354217"/>
          </a:xfrm>
          <a:prstGeom prst="rect">
            <a:avLst/>
          </a:prstGeom>
          <a:noFill/>
        </p:spPr>
        <p:txBody>
          <a:bodyPr wrap="square" rtlCol="0">
            <a:spAutoFit/>
          </a:bodyPr>
          <a:lstStyle/>
          <a:p>
            <a:pPr algn="ctr"/>
            <a:r>
              <a:rPr lang="en-US" sz="2800" dirty="0"/>
              <a:t>SNHU Travel Conclusion</a:t>
            </a:r>
          </a:p>
          <a:p>
            <a:pPr marL="285750" indent="-285750" algn="ctr">
              <a:buFont typeface="Arial" panose="020B0604020202020204" pitchFamily="34" charset="0"/>
              <a:buChar char="•"/>
            </a:pPr>
            <a:r>
              <a:rPr lang="en-US" dirty="0"/>
              <a:t>Requirements evolved</a:t>
            </a:r>
          </a:p>
          <a:p>
            <a:pPr marL="285750" indent="-285750" algn="ctr">
              <a:buFont typeface="Arial" panose="020B0604020202020204" pitchFamily="34" charset="0"/>
              <a:buChar char="•"/>
            </a:pPr>
            <a:r>
              <a:rPr lang="en-US" dirty="0"/>
              <a:t>Stakeholder feedback was ongoing</a:t>
            </a:r>
          </a:p>
          <a:p>
            <a:pPr marL="285750" indent="-285750" algn="ctr">
              <a:buFont typeface="Arial" panose="020B0604020202020204" pitchFamily="34" charset="0"/>
              <a:buChar char="•"/>
            </a:pPr>
            <a:r>
              <a:rPr lang="en-US" dirty="0"/>
              <a:t>Agile was the preferred approach</a:t>
            </a:r>
          </a:p>
        </p:txBody>
      </p:sp>
    </p:spTree>
    <p:extLst>
      <p:ext uri="{BB962C8B-B14F-4D97-AF65-F5344CB8AC3E}">
        <p14:creationId xmlns:p14="http://schemas.microsoft.com/office/powerpoint/2010/main" val="583090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E37C-16F3-DA43-18FF-C8CAE160C550}"/>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50BBB4AE-E321-402A-9408-6DC030B4DF0F}"/>
              </a:ext>
            </a:extLst>
          </p:cNvPr>
          <p:cNvSpPr>
            <a:spLocks noGrp="1"/>
          </p:cNvSpPr>
          <p:nvPr>
            <p:ph idx="1"/>
          </p:nvPr>
        </p:nvSpPr>
        <p:spPr/>
        <p:txBody>
          <a:bodyPr>
            <a:normAutofit/>
          </a:bodyPr>
          <a:lstStyle/>
          <a:p>
            <a:r>
              <a:rPr lang="en-US" dirty="0"/>
              <a:t>Agile Alliance. (n.d.). 12 principles behind the Agile Manifesto. </a:t>
            </a:r>
            <a:r>
              <a:rPr lang="en-US" dirty="0">
                <a:hlinkClick r:id="rId2"/>
              </a:rPr>
              <a:t>https://agilealliance.org/agile101/12-principles-behind-the-agile-manifesto/</a:t>
            </a:r>
            <a:endParaRPr lang="en-US" dirty="0"/>
          </a:p>
          <a:p>
            <a:r>
              <a:rPr lang="en-US" dirty="0"/>
              <a:t>Atlassian. (2025). Agile project management. </a:t>
            </a:r>
            <a:r>
              <a:rPr lang="en-US" dirty="0">
                <a:hlinkClick r:id="rId3"/>
              </a:rPr>
              <a:t>https://www.atlassian.com/agile</a:t>
            </a:r>
            <a:endParaRPr lang="en-US" dirty="0"/>
          </a:p>
          <a:p>
            <a:r>
              <a:rPr lang="en-US" dirty="0"/>
              <a:t>Project Management Institute. (2025). Disciplined Agile resources. </a:t>
            </a:r>
            <a:r>
              <a:rPr lang="en-US" dirty="0">
                <a:hlinkClick r:id="rId4"/>
              </a:rPr>
              <a:t>https://www.pmi.org/disciplined-agile</a:t>
            </a:r>
            <a:endParaRPr lang="en-US" dirty="0"/>
          </a:p>
          <a:p>
            <a:r>
              <a:rPr lang="en-US" dirty="0"/>
              <a:t>Schwaber, K., &amp; Sutherland, J. (2020). The Scrum Guide. </a:t>
            </a:r>
            <a:r>
              <a:rPr lang="en-US" dirty="0">
                <a:hlinkClick r:id="rId5"/>
              </a:rPr>
              <a:t>https://scrumguides.org</a:t>
            </a:r>
            <a:endParaRPr lang="en-US" dirty="0"/>
          </a:p>
          <a:p>
            <a:r>
              <a:rPr lang="en-US" dirty="0"/>
              <a:t>Beck, K., Beedle, M., van </a:t>
            </a:r>
            <a:r>
              <a:rPr lang="en-US" dirty="0" err="1"/>
              <a:t>Bennekum</a:t>
            </a:r>
            <a:r>
              <a:rPr lang="en-US" dirty="0"/>
              <a:t>, A., Cockburn, A., Cunningham, W., Fowler, M., </a:t>
            </a:r>
            <a:r>
              <a:rPr lang="en-US" dirty="0" err="1"/>
              <a:t>Grenning</a:t>
            </a:r>
            <a:r>
              <a:rPr lang="en-US" dirty="0"/>
              <a:t>, J., Highsmith, J., Hunt, A., Jeffries, R., Kern, J., Marick, B., Martin, R. C., Mellor, S., Schwaber, K., Sutherland, J., &amp; Thomas, D. (2001). Manifesto for Agile Software Development. </a:t>
            </a:r>
            <a:r>
              <a:rPr lang="en-US" dirty="0">
                <a:hlinkClick r:id="rId6"/>
              </a:rPr>
              <a:t>https://agilemanifesto.org</a:t>
            </a:r>
            <a:endParaRPr lang="en-US" dirty="0"/>
          </a:p>
          <a:p>
            <a:endParaRPr lang="en-US" dirty="0"/>
          </a:p>
        </p:txBody>
      </p:sp>
    </p:spTree>
    <p:extLst>
      <p:ext uri="{BB962C8B-B14F-4D97-AF65-F5344CB8AC3E}">
        <p14:creationId xmlns:p14="http://schemas.microsoft.com/office/powerpoint/2010/main" val="17096839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TM03457452[[fn=Celestial]]</Template>
  <TotalTime>65</TotalTime>
  <Words>913</Words>
  <Application>Microsoft Office PowerPoint</Application>
  <PresentationFormat>Widescreen</PresentationFormat>
  <Paragraphs>128</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Calibri Light</vt:lpstr>
      <vt:lpstr>Celestial</vt:lpstr>
      <vt:lpstr>Scrum-Agile Development at ChadaTech Lessons Learned from the SNHU Travel Project</vt:lpstr>
      <vt:lpstr>Scrum Team Roles</vt:lpstr>
      <vt:lpstr>Agile SDLC Phases</vt:lpstr>
      <vt:lpstr>Scrum Events and Organizational Tools</vt:lpstr>
      <vt:lpstr>Communication in Agile Teams</vt:lpstr>
      <vt:lpstr>Waterfall vs. Agile Development</vt:lpstr>
      <vt:lpstr>Waterfall or Agile?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Ferraro, Domenic</dc:creator>
  <cp:lastModifiedBy>Ferraro, Domenic</cp:lastModifiedBy>
  <cp:revision>1</cp:revision>
  <dcterms:created xsi:type="dcterms:W3CDTF">2026-06-21T14:34:01Z</dcterms:created>
  <dcterms:modified xsi:type="dcterms:W3CDTF">2026-06-21T15:39:09Z</dcterms:modified>
</cp:coreProperties>
</file>